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Google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font" Target="fonts/GoogleSans-regular.fntdata"/><Relationship Id="rId18" Type="http://schemas.openxmlformats.org/officeDocument/2006/relationships/font" Target="fonts/GoogleSans-bold.fntdata"/><Relationship Id="rId19" Type="http://schemas.openxmlformats.org/officeDocument/2006/relationships/font" Target="fonts/GoogleSans-italic.fntdata"/><Relationship Id="rId20" Type="http://schemas.openxmlformats.org/officeDocument/2006/relationships/font" Target="fonts/Google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i="1" lang="en-GB" sz="1100"/>
              <a:t>All solutions must leverage Google Cloud technologies. NVIDIA technologies should be included by teams that have selected the NVIDIA problem statement.</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Frame 1618872812.png"/>
          <p:cNvPicPr preferRelativeResize="0"/>
          <p:nvPr/>
        </p:nvPicPr>
        <p:blipFill rotWithShape="1">
          <a:blip r:embed="rId3">
            <a:alphaModFix/>
          </a:blip>
          <a:srcRect b="0" l="1840" r="1840" t="0"/>
          <a:stretch/>
        </p:blipFill>
        <p:spPr>
          <a:xfrm>
            <a:off x="0" y="0"/>
            <a:ext cx="9144003" cy="2827599"/>
          </a:xfrm>
          <a:prstGeom prst="rect">
            <a:avLst/>
          </a:prstGeom>
          <a:noFill/>
          <a:ln>
            <a:noFill/>
          </a:ln>
        </p:spPr>
      </p:pic>
      <p:sp>
        <p:nvSpPr>
          <p:cNvPr id="55" name="Google Shape;55;p13"/>
          <p:cNvSpPr txBox="1"/>
          <p:nvPr/>
        </p:nvSpPr>
        <p:spPr>
          <a:xfrm>
            <a:off x="463125" y="3034275"/>
            <a:ext cx="8270400" cy="178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Participant Details</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Participant Name: [Your Name]</a:t>
            </a:r>
            <a:endParaRPr b="0"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Problem Statement: NVIDIA Track — Autonomous Multi-Agent Decision Intelligence for Smart Cities</a:t>
            </a:r>
            <a:endParaRPr b="0"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61" name="Google Shape;61;p14"/>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Brief about the idea</a:t>
            </a:r>
            <a:endParaRPr b="1" i="0" sz="1800" u="none" cap="none" strike="noStrike">
              <a:solidFill>
                <a:srgbClr val="000000"/>
              </a:solidFill>
              <a:latin typeface="Google Sans"/>
              <a:ea typeface="Google Sans"/>
              <a:cs typeface="Google Sans"/>
              <a:sym typeface="Google Sans"/>
            </a:endParaRPr>
          </a:p>
        </p:txBody>
      </p:sp>
      <p:sp>
        <p:nvSpPr>
          <p:cNvPr id="62" name="Google Shape;62;p14"/>
          <p:cNvSpPr txBox="1"/>
          <p:nvPr/>
        </p:nvSpPr>
        <p:spPr>
          <a:xfrm>
            <a:off x="463125" y="11241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sz="1400" b="0">
                <a:solidFill>
                  <a:srgbClr val="000000"/>
                </a:solidFill>
                <a:latin typeface="Google Sans"/>
              </a:rPr>
              <a:t>CityOS is an autonomous multi-agent decision-intelligence platform for smart cities. A goal-driven Planner breaks an incoming situation (e.g. a flash flood warning) into a dependency-aware task graph, dispatches specialized Traffic, Environment, Emergency, Citizen, and Knowledge agents in parallel, reflects on their confidence, and produces an explainable, human-approved recommendation.</a:t>
            </a:r>
            <a:endParaRPr b="0" i="0" sz="1400" u="none" cap="none" strike="noStrike">
              <a:solidFill>
                <a:srgbClr val="000000"/>
              </a:solidFill>
              <a:latin typeface="Google Sans"/>
              <a:ea typeface="Google Sans"/>
              <a:cs typeface="Google Sans"/>
              <a:sym typeface="Google Sans"/>
            </a:endParaRPr>
          </a:p>
          <a:p>
            <a:r>
              <a:rPr sz="1400" b="0">
                <a:solidFill>
                  <a:srgbClr val="000000"/>
                </a:solidFill>
                <a:latin typeface="Google Sans"/>
              </a:rPr>
              <a:t/>
            </a:r>
          </a:p>
          <a:p>
            <a:r>
              <a:rPr sz="1400" b="0">
                <a:solidFill>
                  <a:srgbClr val="000000"/>
                </a:solidFill>
                <a:latin typeface="Google Sans"/>
              </a:rPr>
              <a:t>It is grounded by a real knowledge graph — OpenStreetMap, Wikipedia, Wikidata, GeoJSON boundaries, and government PDFs indexed into Neo4j + Qdrant — and reasons using NVIDIA Nemotron models served through OpenRouter, behind a single AI Gateway that can swap providers without touching a single agent.</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68" name="Google Shape;68;p15"/>
          <p:cNvSpPr txBox="1"/>
          <p:nvPr/>
        </p:nvSpPr>
        <p:spPr>
          <a:xfrm>
            <a:off x="463125" y="3655337"/>
            <a:ext cx="8558411" cy="818692"/>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sz="1400" b="0">
                <a:solidFill>
                  <a:srgbClr val="000000"/>
                </a:solidFill>
                <a:latin typeface="Google Sans"/>
              </a:rPr>
              <a:t>Approach &amp; NVIDIA integration: We selected the NVIDIA problem statement. All reasoning — planning, embedding, reranking, and content-safety — runs on NVIDIA Nemotron models (Nemotron 3 Ultra, Llama-Nemotron-Embed-VL, Llama-Nemotron-Rerank-VL, Nemotron 3.5 Content-Safety) via OpenRouter, unified behind one AI Gateway (src/ai/gateway.py) so no agent talks to a model API directly. Google Gemini remains as an automatic fallback for resilience.</a:t>
            </a:r>
            <a:endParaRPr b="0" i="0" sz="1400" u="none" cap="none" strike="noStrike">
              <a:solidFill>
                <a:srgbClr val="000000"/>
              </a:solidFill>
              <a:latin typeface="Google Sans"/>
              <a:ea typeface="Google Sans"/>
              <a:cs typeface="Google Sans"/>
              <a:sym typeface="Google Sans"/>
            </a:endParaRPr>
          </a:p>
          <a:p>
            <a:r>
              <a:rPr sz="1400" b="0">
                <a:solidFill>
                  <a:srgbClr val="000000"/>
                </a:solidFill>
                <a:latin typeface="Google Sans"/>
              </a:rPr>
              <a:t/>
            </a:r>
          </a:p>
          <a:p>
            <a:r>
              <a:rPr sz="1400" b="0">
                <a:solidFill>
                  <a:srgbClr val="000000"/>
                </a:solidFill>
                <a:latin typeface="Google Sans"/>
              </a:rPr>
              <a:t>Real-world problem &amp; impact: City operators juggle isolated dashboards that show data but cannot reason, coordinate, or recall institutional knowledge during fast-moving events (floods, hazardous AQI, mass events). CityOS turns raw sensor + knowledge data into a single explainable recommendation an operator can approve in seconds — cutting response time and keeping a human in the loop for every high-risk decision.</a:t>
            </a:r>
          </a:p>
          <a:p>
            <a:r>
              <a:rPr sz="1400" b="0">
                <a:solidFill>
                  <a:srgbClr val="000000"/>
                </a:solidFill>
                <a:latin typeface="Google Sans"/>
              </a:rPr>
              <a:t/>
            </a:r>
          </a:p>
          <a:p>
            <a:r>
              <a:rPr sz="1400" b="0">
                <a:solidFill>
                  <a:srgbClr val="000000"/>
                </a:solidFill>
                <a:latin typeface="Google Sans"/>
              </a:rPr>
              <a:t>Core architecture: Goal → Planner (DAG) → parallel Agent Workers → Reflection (confidence check) → RAG retrieval (Qdrant top-20 → Nemotron rerank → top-5) → Decision → human approval → Workflow. Every step is broadcast live over WebSocket to Mission Control.</a:t>
            </a:r>
          </a:p>
        </p:txBody>
      </p:sp>
      <p:sp>
        <p:nvSpPr>
          <p:cNvPr id="69" name="Google Shape;69;p15"/>
          <p:cNvSpPr txBox="1"/>
          <p:nvPr/>
        </p:nvSpPr>
        <p:spPr>
          <a:xfrm>
            <a:off x="1698825" y="1296325"/>
            <a:ext cx="7459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70" name="Google Shape;70;p15"/>
          <p:cNvSpPr txBox="1"/>
          <p:nvPr/>
        </p:nvSpPr>
        <p:spPr>
          <a:xfrm>
            <a:off x="463125" y="787050"/>
            <a:ext cx="8270400" cy="199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Your solution should be able to explain the following:</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a:p>
            <a:pPr indent="-317500" lvl="0" marL="457200" marR="0" rtl="0" algn="l">
              <a:lnSpc>
                <a:spcPct val="100000"/>
              </a:lnSpc>
              <a:spcBef>
                <a:spcPts val="0"/>
              </a:spcBef>
              <a:spcAft>
                <a:spcPts val="0"/>
              </a:spcAft>
              <a:buClr>
                <a:srgbClr val="000000"/>
              </a:buClr>
              <a:buSzPts val="1400"/>
              <a:buFont typeface="Google Sans"/>
              <a:buChar char="●"/>
            </a:pPr>
            <a:r>
              <a:rPr b="0" i="0" lang="en-GB" sz="1400" u="none" cap="none" strike="noStrike">
                <a:solidFill>
                  <a:srgbClr val="000000"/>
                </a:solidFill>
                <a:latin typeface="Arial"/>
                <a:ea typeface="Arial"/>
                <a:cs typeface="Arial"/>
                <a:sym typeface="Arial"/>
              </a:rPr>
              <a:t>How did you approach the common problem statement and translate it into a working solution using Google Cloud technologies (e.g., BigQuery, ADK, Vertex AI, Gemini, etc.) while ensuring the hackathon's core requirements are met? If you selected the NVIDIA problem statement, also explain how NVIDIA technologies were integrated into your solution.</a:t>
            </a:r>
            <a:br>
              <a:rPr b="0" i="0" lang="en-GB" sz="1400" u="none" cap="none" strike="noStrike">
                <a:solidFill>
                  <a:srgbClr val="000000"/>
                </a:solidFill>
                <a:latin typeface="Google Sans"/>
                <a:ea typeface="Google Sans"/>
                <a:cs typeface="Google Sans"/>
                <a:sym typeface="Google Sans"/>
              </a:rPr>
            </a:br>
            <a:endParaRPr b="0" i="0" sz="1400" u="none" cap="none" strike="noStrike">
              <a:solidFill>
                <a:srgbClr val="000000"/>
              </a:solidFill>
              <a:latin typeface="Google Sans"/>
              <a:ea typeface="Google Sans"/>
              <a:cs typeface="Google Sans"/>
              <a:sym typeface="Google Sans"/>
            </a:endParaRPr>
          </a:p>
          <a:p>
            <a:pPr indent="-317500" lvl="0" marL="457200" marR="0" rtl="0" algn="l">
              <a:lnSpc>
                <a:spcPct val="100000"/>
              </a:lnSpc>
              <a:spcBef>
                <a:spcPts val="0"/>
              </a:spcBef>
              <a:spcAft>
                <a:spcPts val="0"/>
              </a:spcAft>
              <a:buClr>
                <a:srgbClr val="000000"/>
              </a:buClr>
              <a:buSzPts val="1400"/>
              <a:buFont typeface="Google Sans"/>
              <a:buChar char="●"/>
            </a:pPr>
            <a:r>
              <a:rPr b="0" i="0" lang="en-GB" sz="1400" u="none" cap="none" strike="noStrike">
                <a:solidFill>
                  <a:srgbClr val="000000"/>
                </a:solidFill>
                <a:latin typeface="Arial"/>
                <a:ea typeface="Arial"/>
                <a:cs typeface="Arial"/>
                <a:sym typeface="Arial"/>
              </a:rPr>
              <a:t>What real-world problem does your solution address, and what practical impact does it create for users, organizations, or communities?</a:t>
            </a:r>
            <a:r>
              <a:rPr b="0" i="0" lang="en-GB" sz="1400" u="none" cap="none" strike="noStrike">
                <a:solidFill>
                  <a:srgbClr val="000000"/>
                </a:solidFill>
                <a:latin typeface="Google Sans"/>
                <a:ea typeface="Google Sans"/>
                <a:cs typeface="Google Sans"/>
                <a:sym typeface="Google Sans"/>
              </a:rPr>
              <a:t>?</a:t>
            </a:r>
            <a:br>
              <a:rPr b="0" i="0" lang="en-GB" sz="1400" u="none" cap="none" strike="noStrike">
                <a:solidFill>
                  <a:srgbClr val="000000"/>
                </a:solidFill>
                <a:latin typeface="Google Sans"/>
                <a:ea typeface="Google Sans"/>
                <a:cs typeface="Google Sans"/>
                <a:sym typeface="Google Sans"/>
              </a:rPr>
            </a:br>
            <a:endParaRPr b="0" i="0" sz="1400" u="none" cap="none" strike="noStrike">
              <a:solidFill>
                <a:srgbClr val="000000"/>
              </a:solidFill>
              <a:latin typeface="Google Sans"/>
              <a:ea typeface="Google Sans"/>
              <a:cs typeface="Google Sans"/>
              <a:sym typeface="Google Sans"/>
            </a:endParaRPr>
          </a:p>
          <a:p>
            <a:pPr indent="-317500" lvl="0" marL="457200" marR="0" rtl="0" algn="l">
              <a:lnSpc>
                <a:spcPct val="100000"/>
              </a:lnSpc>
              <a:spcBef>
                <a:spcPts val="0"/>
              </a:spcBef>
              <a:spcAft>
                <a:spcPts val="0"/>
              </a:spcAft>
              <a:buClr>
                <a:srgbClr val="000000"/>
              </a:buClr>
              <a:buSzPts val="1400"/>
              <a:buFont typeface="Google Sans"/>
              <a:buChar char="●"/>
            </a:pPr>
            <a:r>
              <a:rPr b="0" i="0" lang="en-GB" sz="1400" u="none" cap="none" strike="noStrike">
                <a:solidFill>
                  <a:srgbClr val="000000"/>
                </a:solidFill>
                <a:latin typeface="Arial"/>
                <a:ea typeface="Arial"/>
                <a:cs typeface="Arial"/>
                <a:sym typeface="Arial"/>
              </a:rPr>
              <a:t>What is the core architecture or workflow behind your solution, and how does it transform data into actionable insights or intelligent decisions?</a:t>
            </a:r>
            <a:endParaRPr b="0" i="0" sz="16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6"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76" name="Google Shape;76;p16"/>
          <p:cNvSpPr txBox="1"/>
          <p:nvPr/>
        </p:nvSpPr>
        <p:spPr>
          <a:xfrm>
            <a:off x="463125" y="787050"/>
            <a:ext cx="8270400" cy="137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Opportunities</a:t>
            </a:r>
            <a:br>
              <a:rPr b="1" i="0" lang="en-GB" sz="1800" u="none" cap="none" strike="noStrike">
                <a:solidFill>
                  <a:srgbClr val="000000"/>
                </a:solidFill>
                <a:latin typeface="Google Sans"/>
                <a:ea typeface="Google Sans"/>
                <a:cs typeface="Google Sans"/>
                <a:sym typeface="Google Sans"/>
              </a:rPr>
            </a:br>
            <a:endParaRPr b="1" i="0" sz="1800" u="none" cap="none" strike="noStrike">
              <a:solidFill>
                <a:srgbClr val="000000"/>
              </a:solidFill>
              <a:latin typeface="Google Sans"/>
              <a:ea typeface="Google Sans"/>
              <a:cs typeface="Google Sans"/>
              <a:sym typeface="Google Sans"/>
            </a:endParaRPr>
          </a:p>
          <a:p>
            <a:pPr indent="-317500" lvl="0" marL="457200" marR="0" rtl="0" algn="l">
              <a:lnSpc>
                <a:spcPct val="100000"/>
              </a:lnSpc>
              <a:spcBef>
                <a:spcPts val="0"/>
              </a:spcBef>
              <a:spcAft>
                <a:spcPts val="0"/>
              </a:spcAft>
              <a:buClr>
                <a:srgbClr val="000000"/>
              </a:buClr>
              <a:buSzPts val="1400"/>
              <a:buFont typeface="Google Sans"/>
              <a:buChar char="●"/>
            </a:pPr>
            <a:r>
              <a:rPr b="0" i="0" lang="en-GB" sz="1600" u="none" cap="none" strike="noStrike">
                <a:solidFill>
                  <a:srgbClr val="000000"/>
                </a:solidFill>
                <a:latin typeface="Google Sans"/>
                <a:ea typeface="Google Sans"/>
                <a:cs typeface="Google Sans"/>
                <a:sym typeface="Google Sans"/>
              </a:rPr>
              <a:t>How different is it from any of the other existing ideas?</a:t>
            </a:r>
            <a:endParaRPr b="0" i="0" sz="1600" u="none" cap="none" strike="noStrike">
              <a:solidFill>
                <a:srgbClr val="000000"/>
              </a:solidFill>
              <a:latin typeface="Google Sans"/>
              <a:ea typeface="Google Sans"/>
              <a:cs typeface="Google Sans"/>
              <a:sym typeface="Google Sans"/>
            </a:endParaRPr>
          </a:p>
          <a:p>
            <a:pPr indent="-330200" lvl="0" marL="457200" marR="0" rtl="0" algn="l">
              <a:lnSpc>
                <a:spcPct val="100000"/>
              </a:lnSpc>
              <a:spcBef>
                <a:spcPts val="0"/>
              </a:spcBef>
              <a:spcAft>
                <a:spcPts val="0"/>
              </a:spcAft>
              <a:buClr>
                <a:srgbClr val="000000"/>
              </a:buClr>
              <a:buSzPts val="1600"/>
              <a:buFont typeface="Google Sans"/>
              <a:buChar char="●"/>
            </a:pPr>
            <a:r>
              <a:rPr b="0" i="0" lang="en-GB" sz="1600" u="none" cap="none" strike="noStrike">
                <a:solidFill>
                  <a:srgbClr val="000000"/>
                </a:solidFill>
                <a:latin typeface="Google Sans"/>
                <a:ea typeface="Google Sans"/>
                <a:cs typeface="Google Sans"/>
                <a:sym typeface="Google Sans"/>
              </a:rPr>
              <a:t>USP of the proposed solution</a:t>
            </a:r>
            <a:endParaRPr b="0" i="0" sz="1600" u="none" cap="none" strike="noStrike">
              <a:solidFill>
                <a:srgbClr val="000000"/>
              </a:solidFill>
              <a:latin typeface="Google Sans"/>
              <a:ea typeface="Google Sans"/>
              <a:cs typeface="Google Sans"/>
              <a:sym typeface="Google Sans"/>
            </a:endParaRPr>
          </a:p>
        </p:txBody>
      </p:sp>
      <p:sp>
        <p:nvSpPr>
          <p:cNvPr id="77" name="Google Shape;77;p16"/>
          <p:cNvSpPr txBox="1"/>
          <p:nvPr/>
        </p:nvSpPr>
        <p:spPr>
          <a:xfrm>
            <a:off x="463125" y="2392375"/>
            <a:ext cx="8270400" cy="224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sz="1400" b="0">
                <a:solidFill>
                  <a:srgbClr val="000000"/>
                </a:solidFill>
                <a:latin typeface="Google Sans"/>
              </a:rPr>
              <a:t>Most smart-city tools are read-only dashboards: they visualize data but cannot reason about it, coordinate across domains, or recall institutional knowledge.</a:t>
            </a:r>
            <a:endParaRPr b="0" i="0" sz="1400" u="none" cap="none" strike="noStrike">
              <a:solidFill>
                <a:srgbClr val="000000"/>
              </a:solidFill>
              <a:latin typeface="Google Sans"/>
              <a:ea typeface="Google Sans"/>
              <a:cs typeface="Google Sans"/>
              <a:sym typeface="Google Sans"/>
            </a:endParaRPr>
          </a:p>
          <a:p>
            <a:r>
              <a:rPr sz="1400" b="0">
                <a:solidFill>
                  <a:srgbClr val="000000"/>
                </a:solidFill>
                <a:latin typeface="Google Sans"/>
              </a:rPr>
              <a:t/>
            </a:r>
          </a:p>
          <a:p>
            <a:r>
              <a:rPr sz="1400" b="0">
                <a:solidFill>
                  <a:srgbClr val="000000"/>
                </a:solidFill>
                <a:latin typeface="Google Sans"/>
              </a:rPr>
              <a:t>CityOS's USP:</a:t>
            </a:r>
          </a:p>
          <a:p>
            <a:r>
              <a:rPr sz="1400" b="0">
                <a:solidFill>
                  <a:srgbClr val="000000"/>
                </a:solidFill>
                <a:latin typeface="Google Sans"/>
              </a:rPr>
              <a:t>• True multi-agent reasoning, not another chart — a Planner + Reflection loop that adapts its own task graph mid-run</a:t>
            </a:r>
          </a:p>
          <a:p>
            <a:r>
              <a:rPr sz="1400" b="0">
                <a:solidFill>
                  <a:srgbClr val="000000"/>
                </a:solidFill>
                <a:latin typeface="Google Sans"/>
              </a:rPr>
              <a:t>• A real knowledge graph (Neo4j + Qdrant), not a keyword search — 5 heterogeneous sources fused into one retrievable graph</a:t>
            </a:r>
          </a:p>
          <a:p>
            <a:r>
              <a:rPr sz="1400" b="0">
                <a:solidFill>
                  <a:srgbClr val="000000"/>
                </a:solidFill>
                <a:latin typeface="Google Sans"/>
              </a:rPr>
              <a:t>• Provider-agnostic AI Gateway — swap NVIDIA → NIM → Vertex → Ollama by editing one file, zero agent changes</a:t>
            </a:r>
          </a:p>
          <a:p>
            <a:r>
              <a:rPr sz="1400" b="0">
                <a:solidFill>
                  <a:srgbClr val="000000"/>
                </a:solidFill>
                <a:latin typeface="Google Sans"/>
              </a:rPr>
              <a:t>• Guardrails by design — content-safety pre/post-check plus mandatory human approval on every high-risk decision</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7"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83" name="Google Shape;83;p17"/>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List of features offered by the solution</a:t>
            </a:r>
            <a:endParaRPr b="1" i="0" sz="1800" u="none" cap="none" strike="noStrike">
              <a:solidFill>
                <a:srgbClr val="000000"/>
              </a:solidFill>
              <a:latin typeface="Google Sans"/>
              <a:ea typeface="Google Sans"/>
              <a:cs typeface="Google Sans"/>
              <a:sym typeface="Google Sans"/>
            </a:endParaRPr>
          </a:p>
        </p:txBody>
      </p:sp>
      <p:sp>
        <p:nvSpPr>
          <p:cNvPr id="84" name="Google Shape;84;p17"/>
          <p:cNvSpPr txBox="1"/>
          <p:nvPr/>
        </p:nvSpPr>
        <p:spPr>
          <a:xfrm>
            <a:off x="463125" y="11241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sz="1400" b="0">
                <a:solidFill>
                  <a:srgbClr val="000000"/>
                </a:solidFill>
                <a:latin typeface="Google Sans"/>
              </a:rPr>
              <a:t>• Goal-driven multi-agent runtime: Planner → parallel Workers → Reflection → Decision → human approval</a:t>
            </a:r>
            <a:endParaRPr b="0" i="0" sz="1400" u="none" cap="none" strike="noStrike">
              <a:solidFill>
                <a:srgbClr val="000000"/>
              </a:solidFill>
              <a:latin typeface="Google Sans"/>
              <a:ea typeface="Google Sans"/>
              <a:cs typeface="Google Sans"/>
              <a:sym typeface="Google Sans"/>
            </a:endParaRPr>
          </a:p>
          <a:p>
            <a:r>
              <a:rPr sz="1400" b="0">
                <a:solidFill>
                  <a:srgbClr val="000000"/>
                </a:solidFill>
                <a:latin typeface="Google Sans"/>
              </a:rPr>
              <a:t>• RAG knowledge layer over OSM, Wikipedia, Wikidata, GeoJSON, and government PDFs (Neo4j + Qdrant)</a:t>
            </a:r>
          </a:p>
          <a:p>
            <a:r>
              <a:rPr sz="1400" b="0">
                <a:solidFill>
                  <a:srgbClr val="000000"/>
                </a:solidFill>
                <a:latin typeface="Google Sans"/>
              </a:rPr>
              <a:t>• NVIDIA Nemotron AI Gateway: planning, embedding, reranking, content-safety — with automatic Gemini fallback</a:t>
            </a:r>
          </a:p>
          <a:p>
            <a:r>
              <a:rPr sz="1400" b="0">
                <a:solidFill>
                  <a:srgbClr val="000000"/>
                </a:solidFill>
                <a:latin typeface="Google Sans"/>
              </a:rPr>
              <a:t>• Live Mission Control dashboard: city map, agent DAG, AI Copilot chat, decision timeline</a:t>
            </a:r>
          </a:p>
          <a:p>
            <a:r>
              <a:rPr sz="1400" b="0">
                <a:solidFill>
                  <a:srgbClr val="000000"/>
                </a:solidFill>
                <a:latin typeface="Google Sans"/>
              </a:rPr>
              <a:t>• What-If Simulator: heavy rain / air pollution / major event / heatwave scenarios with live AI predictions</a:t>
            </a:r>
          </a:p>
          <a:p>
            <a:r>
              <a:rPr sz="1400" b="0">
                <a:solidFill>
                  <a:srgbClr val="000000"/>
                </a:solidFill>
                <a:latin typeface="Google Sans"/>
              </a:rPr>
              <a:t>• Real-time data ingestion: weather + AQI every 15 minutes across 12 Hanoi districts</a:t>
            </a:r>
          </a:p>
          <a:p>
            <a:r>
              <a:rPr sz="1400" b="0">
                <a:solidFill>
                  <a:srgbClr val="000000"/>
                </a:solidFill>
                <a:latin typeface="Google Sans"/>
              </a:rPr>
              <a:t>• Human-in-the-loop safety gate on every low-confidence or high-risk decision</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8"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90" name="Google Shape;90;p18"/>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Process flow diagram or Use-case diagram</a:t>
            </a:r>
            <a:endParaRPr b="1" i="0" sz="1800" u="none" cap="none" strike="noStrike">
              <a:solidFill>
                <a:srgbClr val="000000"/>
              </a:solidFill>
              <a:latin typeface="Google Sans"/>
              <a:ea typeface="Google Sans"/>
              <a:cs typeface="Google Sans"/>
              <a:sym typeface="Google Sans"/>
            </a:endParaRPr>
          </a:p>
        </p:txBody>
      </p:sp>
      <p:sp>
        <p:nvSpPr>
          <p:cNvPr id="91" name="Google Shape;91;p18"/>
          <p:cNvSpPr txBox="1"/>
          <p:nvPr/>
        </p:nvSpPr>
        <p:spPr>
          <a:xfrm>
            <a:off x="463125" y="11241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sz="1300" b="0">
                <a:solidFill>
                  <a:srgbClr val="000000"/>
                </a:solidFill>
                <a:latin typeface="Google Sans"/>
              </a:rPr>
              <a:t>Example: Heavy rain detected in Hanoi</a:t>
            </a:r>
            <a:endParaRPr b="0" i="0" sz="1400" u="none" cap="none" strike="noStrike">
              <a:solidFill>
                <a:srgbClr val="000000"/>
              </a:solidFill>
              <a:latin typeface="Google Sans"/>
              <a:ea typeface="Google Sans"/>
              <a:cs typeface="Google Sans"/>
              <a:sym typeface="Google Sans"/>
            </a:endParaRPr>
          </a:p>
          <a:p>
            <a:r>
              <a:rPr sz="1300" b="0">
                <a:solidFill>
                  <a:srgbClr val="000000"/>
                </a:solidFill>
                <a:latin typeface="Google Sans"/>
              </a:rPr>
              <a:t/>
            </a:r>
          </a:p>
          <a:p>
            <a:r>
              <a:rPr sz="1300" b="0">
                <a:solidFill>
                  <a:srgbClr val="000000"/>
                </a:solidFill>
                <a:latin typeface="Google Sans"/>
              </a:rPr>
              <a:t>  User Goal / Sensor Trigger</a:t>
            </a:r>
          </a:p>
          <a:p>
            <a:r>
              <a:rPr sz="1300" b="0">
                <a:solidFill>
                  <a:srgbClr val="000000"/>
                </a:solidFill>
                <a:latin typeface="Google Sans"/>
              </a:rPr>
              <a:t>        ↓</a:t>
            </a:r>
          </a:p>
          <a:p>
            <a:r>
              <a:rPr sz="1300" b="0">
                <a:solidFill>
                  <a:srgbClr val="000000"/>
                </a:solidFill>
                <a:latin typeface="Google Sans"/>
              </a:rPr>
              <a:t>     Planner (builds task DAG)</a:t>
            </a:r>
          </a:p>
          <a:p>
            <a:r>
              <a:rPr sz="1300" b="0">
                <a:solidFill>
                  <a:srgbClr val="000000"/>
                </a:solidFill>
                <a:latin typeface="Google Sans"/>
              </a:rPr>
              <a:t>        ↓</a:t>
            </a:r>
          </a:p>
          <a:p>
            <a:r>
              <a:rPr sz="1300" b="0">
                <a:solidFill>
                  <a:srgbClr val="000000"/>
                </a:solidFill>
                <a:latin typeface="Google Sans"/>
              </a:rPr>
              <a:t>  Traffic Agent   Emergency Agent   Knowledge Agent   (parallel)</a:t>
            </a:r>
          </a:p>
          <a:p>
            <a:r>
              <a:rPr sz="1300" b="0">
                <a:solidFill>
                  <a:srgbClr val="000000"/>
                </a:solidFill>
                <a:latin typeface="Google Sans"/>
              </a:rPr>
              <a:t>        ↓</a:t>
            </a:r>
          </a:p>
          <a:p>
            <a:r>
              <a:rPr sz="1300" b="0">
                <a:solidFill>
                  <a:srgbClr val="000000"/>
                </a:solidFill>
                <a:latin typeface="Google Sans"/>
              </a:rPr>
              <a:t>     Reflection (confidence check)</a:t>
            </a:r>
          </a:p>
          <a:p>
            <a:r>
              <a:rPr sz="1300" b="0">
                <a:solidFill>
                  <a:srgbClr val="000000"/>
                </a:solidFill>
                <a:latin typeface="Google Sans"/>
              </a:rPr>
              <a:t>        ↓</a:t>
            </a:r>
          </a:p>
          <a:p>
            <a:r>
              <a:rPr sz="1300" b="0">
                <a:solidFill>
                  <a:srgbClr val="000000"/>
                </a:solidFill>
                <a:latin typeface="Google Sans"/>
              </a:rPr>
              <a:t>     Decision (recommendation + evidence)</a:t>
            </a:r>
          </a:p>
          <a:p>
            <a:r>
              <a:rPr sz="1300" b="0">
                <a:solidFill>
                  <a:srgbClr val="000000"/>
                </a:solidFill>
                <a:latin typeface="Google Sans"/>
              </a:rPr>
              <a:t>        ↓</a:t>
            </a:r>
          </a:p>
          <a:p>
            <a:r>
              <a:rPr sz="1300" b="0">
                <a:solidFill>
                  <a:srgbClr val="000000"/>
                </a:solidFill>
                <a:latin typeface="Google Sans"/>
              </a:rPr>
              <a:t>     Human Approval (Mission Control)</a:t>
            </a:r>
          </a:p>
          <a:p>
            <a:r>
              <a:rPr sz="1300" b="0">
                <a:solidFill>
                  <a:srgbClr val="000000"/>
                </a:solidFill>
                <a:latin typeface="Google Sans"/>
              </a:rPr>
              <a:t>        ↓</a:t>
            </a:r>
          </a:p>
          <a:p>
            <a:r>
              <a:rPr sz="1300" b="0">
                <a:solidFill>
                  <a:srgbClr val="000000"/>
                </a:solidFill>
                <a:latin typeface="Google Sans"/>
              </a:rPr>
              <a:t>     Workflow executed + logged to timeline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19"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97" name="Google Shape;97;p19"/>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Wireframes/Mock diagrams of the proposed solution </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p:txBody>
      </p:sp>
      <p:sp>
        <p:nvSpPr>
          <p:cNvPr id="98" name="Google Shape;98;p19"/>
          <p:cNvSpPr txBox="1"/>
          <p:nvPr/>
        </p:nvSpPr>
        <p:spPr>
          <a:xfrm>
            <a:off x="463125" y="118497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endParaRPr b="0" i="0" sz="1400" u="none" cap="none" strike="noStrike">
              <a:solidFill>
                <a:srgbClr val="000000"/>
              </a:solidFill>
              <a:latin typeface="Google Sans"/>
              <a:ea typeface="Google Sans"/>
              <a:cs typeface="Google Sans"/>
              <a:sym typeface="Google Sans"/>
            </a:endParaRPr>
          </a:p>
        </p:txBody>
      </p:sp>
      <p:pic>
        <p:nvPicPr>
          <p:cNvPr id="99" name="Picture 98" descr="dashboard.png"/>
          <p:cNvPicPr>
            <a:picLocks noChangeAspect="1"/>
          </p:cNvPicPr>
          <p:nvPr/>
        </p:nvPicPr>
        <p:blipFill>
          <a:blip r:embed="rId4"/>
          <a:stretch>
            <a:fillRect/>
          </a:stretch>
        </p:blipFill>
        <p:spPr>
          <a:xfrm>
            <a:off x="463125" y="1400000"/>
            <a:ext cx="2695840" cy="2371400"/>
          </a:xfrm>
          <a:prstGeom prst="rect">
            <a:avLst/>
          </a:prstGeom>
        </p:spPr>
      </p:pic>
      <p:sp>
        <p:nvSpPr>
          <p:cNvPr id="100" name="TextBox 99"/>
          <p:cNvSpPr txBox="1"/>
          <p:nvPr/>
        </p:nvSpPr>
        <p:spPr>
          <a:xfrm>
            <a:off x="463125" y="3771400"/>
            <a:ext cx="2695840" cy="228600"/>
          </a:xfrm>
          <a:prstGeom prst="rect">
            <a:avLst/>
          </a:prstGeom>
          <a:noFill/>
        </p:spPr>
        <p:txBody>
          <a:bodyPr wrap="none">
            <a:spAutoFit/>
          </a:bodyPr>
          <a:lstStyle/>
          <a:p>
            <a:pPr algn="ctr"/>
            <a:r>
              <a:rPr sz="1100">
                <a:latin typeface="Google Sans"/>
              </a:rPr>
              <a:t>Dashboard</a:t>
            </a:r>
          </a:p>
        </p:txBody>
      </p:sp>
      <p:pic>
        <p:nvPicPr>
          <p:cNvPr id="101" name="Picture 100" descr="map.png"/>
          <p:cNvPicPr>
            <a:picLocks noChangeAspect="1"/>
          </p:cNvPicPr>
          <p:nvPr/>
        </p:nvPicPr>
        <p:blipFill>
          <a:blip r:embed="rId5"/>
          <a:stretch>
            <a:fillRect/>
          </a:stretch>
        </p:blipFill>
        <p:spPr>
          <a:xfrm>
            <a:off x="3250405" y="1400000"/>
            <a:ext cx="2695840" cy="2371400"/>
          </a:xfrm>
          <a:prstGeom prst="rect">
            <a:avLst/>
          </a:prstGeom>
        </p:spPr>
      </p:pic>
      <p:sp>
        <p:nvSpPr>
          <p:cNvPr id="102" name="TextBox 101"/>
          <p:cNvSpPr txBox="1"/>
          <p:nvPr/>
        </p:nvSpPr>
        <p:spPr>
          <a:xfrm>
            <a:off x="3250405" y="3771400"/>
            <a:ext cx="2695840" cy="228600"/>
          </a:xfrm>
          <a:prstGeom prst="rect">
            <a:avLst/>
          </a:prstGeom>
          <a:noFill/>
        </p:spPr>
        <p:txBody>
          <a:bodyPr wrap="none">
            <a:spAutoFit/>
          </a:bodyPr>
          <a:lstStyle/>
          <a:p>
            <a:pPr algn="ctr"/>
            <a:r>
              <a:rPr sz="1100">
                <a:latin typeface="Google Sans"/>
              </a:rPr>
              <a:t>City Map</a:t>
            </a:r>
          </a:p>
        </p:txBody>
      </p:sp>
      <p:pic>
        <p:nvPicPr>
          <p:cNvPr id="103" name="Picture 102" descr="copilot.png"/>
          <p:cNvPicPr>
            <a:picLocks noChangeAspect="1"/>
          </p:cNvPicPr>
          <p:nvPr/>
        </p:nvPicPr>
        <p:blipFill>
          <a:blip r:embed="rId6"/>
          <a:stretch>
            <a:fillRect/>
          </a:stretch>
        </p:blipFill>
        <p:spPr>
          <a:xfrm>
            <a:off x="6037685" y="1400000"/>
            <a:ext cx="2695840" cy="2371400"/>
          </a:xfrm>
          <a:prstGeom prst="rect">
            <a:avLst/>
          </a:prstGeom>
        </p:spPr>
      </p:pic>
      <p:sp>
        <p:nvSpPr>
          <p:cNvPr id="104" name="TextBox 103"/>
          <p:cNvSpPr txBox="1"/>
          <p:nvPr/>
        </p:nvSpPr>
        <p:spPr>
          <a:xfrm>
            <a:off x="6037685" y="3771400"/>
            <a:ext cx="2695840" cy="228600"/>
          </a:xfrm>
          <a:prstGeom prst="rect">
            <a:avLst/>
          </a:prstGeom>
          <a:noFill/>
        </p:spPr>
        <p:txBody>
          <a:bodyPr wrap="none">
            <a:spAutoFit/>
          </a:bodyPr>
          <a:lstStyle/>
          <a:p>
            <a:pPr algn="ctr"/>
            <a:r>
              <a:rPr sz="1100">
                <a:latin typeface="Google Sans"/>
              </a:rPr>
              <a:t>AI Copilot</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20"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104" name="Google Shape;104;p20"/>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Architecture diagram of the proposed solution:</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 </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p:txBody>
      </p:sp>
      <p:sp>
        <p:nvSpPr>
          <p:cNvPr id="105" name="Google Shape;105;p20"/>
          <p:cNvSpPr txBox="1"/>
          <p:nvPr/>
        </p:nvSpPr>
        <p:spPr>
          <a:xfrm>
            <a:off x="463125" y="118497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sz="1300" b="0">
                <a:solidFill>
                  <a:srgbClr val="000000"/>
                </a:solidFill>
                <a:latin typeface="Google Sans"/>
              </a:rPr>
              <a:t>  React Mission Control (Map · DAG · Copilot · Timeline)</a:t>
            </a:r>
            <a:endParaRPr b="0" i="0" sz="1400" u="none" cap="none" strike="noStrike">
              <a:solidFill>
                <a:srgbClr val="000000"/>
              </a:solidFill>
              <a:latin typeface="Google Sans"/>
              <a:ea typeface="Google Sans"/>
              <a:cs typeface="Google Sans"/>
              <a:sym typeface="Google Sans"/>
            </a:endParaRPr>
          </a:p>
          <a:p>
            <a:r>
              <a:rPr sz="1300" b="0">
                <a:solidFill>
                  <a:srgbClr val="000000"/>
                </a:solidFill>
                <a:latin typeface="Google Sans"/>
              </a:rPr>
              <a:t>                     ↓ REST + WebSocket</a:t>
            </a:r>
          </a:p>
          <a:p>
            <a:r>
              <a:rPr sz="1300" b="0">
                <a:solidFill>
                  <a:srgbClr val="000000"/>
                </a:solidFill>
                <a:latin typeface="Google Sans"/>
              </a:rPr>
              <a:t>              FastAPI Backend</a:t>
            </a:r>
          </a:p>
          <a:p>
            <a:r>
              <a:rPr sz="1300" b="0">
                <a:solidFill>
                  <a:srgbClr val="000000"/>
                </a:solidFill>
                <a:latin typeface="Google Sans"/>
              </a:rPr>
              <a:t>                     ↓</a:t>
            </a:r>
          </a:p>
          <a:p>
            <a:r>
              <a:rPr sz="1300" b="0">
                <a:solidFill>
                  <a:srgbClr val="000000"/>
                </a:solidFill>
                <a:latin typeface="Google Sans"/>
              </a:rPr>
              <a:t>     Multi-Agent Runtime (Planner → Scheduler → Workers → Reflection → Decision)</a:t>
            </a:r>
          </a:p>
          <a:p>
            <a:r>
              <a:rPr sz="1300" b="0">
                <a:solidFill>
                  <a:srgbClr val="000000"/>
                </a:solidFill>
                <a:latin typeface="Google Sans"/>
              </a:rPr>
              <a:t>                     ↓</a:t>
            </a:r>
          </a:p>
          <a:p>
            <a:r>
              <a:rPr sz="1300" b="0">
                <a:solidFill>
                  <a:srgbClr val="000000"/>
                </a:solidFill>
                <a:latin typeface="Google Sans"/>
              </a:rPr>
              <a:t>        Knowledge Layer:  Neo4j (graph)  +  Qdrant (vectors)</a:t>
            </a:r>
          </a:p>
          <a:p>
            <a:r>
              <a:rPr sz="1300" b="0">
                <a:solidFill>
                  <a:srgbClr val="000000"/>
                </a:solidFill>
                <a:latin typeface="Google Sans"/>
              </a:rPr>
              <a:t>                     ↓</a:t>
            </a:r>
          </a:p>
          <a:p>
            <a:r>
              <a:rPr sz="1300" b="0">
                <a:solidFill>
                  <a:srgbClr val="000000"/>
                </a:solidFill>
                <a:latin typeface="Google Sans"/>
              </a:rPr>
              <a:t>   AI Gateway:  Safety · Embedding · Reranker · Planner</a:t>
            </a:r>
          </a:p>
          <a:p>
            <a:r>
              <a:rPr sz="1300" b="0">
                <a:solidFill>
                  <a:srgbClr val="000000"/>
                </a:solidFill>
                <a:latin typeface="Google Sans"/>
              </a:rPr>
              <a:t>                     ↓</a:t>
            </a:r>
          </a:p>
          <a:p>
            <a:r>
              <a:rPr sz="1300" b="0">
                <a:solidFill>
                  <a:srgbClr val="000000"/>
                </a:solidFill>
                <a:latin typeface="Google Sans"/>
              </a:rPr>
              <a:t>     NVIDIA Nemotron (via OpenRouter)  →  fallback: Google Gemini</a:t>
            </a:r>
          </a:p>
          <a:p>
            <a:r>
              <a:rPr sz="1300" b="0">
                <a:solidFill>
                  <a:srgbClr val="000000"/>
                </a:solidFill>
                <a:latin typeface="Google Sans"/>
              </a:rPr>
              <a:t>                     ↓</a:t>
            </a:r>
          </a:p>
          <a:p>
            <a:r>
              <a:rPr sz="1300" b="0">
                <a:solidFill>
                  <a:srgbClr val="000000"/>
                </a:solidFill>
                <a:latin typeface="Google Sans"/>
              </a:rPr>
              <a:t>  Data Sources: OSM · Wikipedia · Wikidata · GeoJSON · Gov PDFs · Open-Meteo · OpenAQ</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1"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111" name="Google Shape;111;p21"/>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Technologies / Google / Nvidia Services used in the solution</a:t>
            </a:r>
            <a:br>
              <a:rPr b="0" i="0" lang="en-GB" sz="1000" u="none" cap="none" strike="noStrike">
                <a:solidFill>
                  <a:srgbClr val="000000"/>
                </a:solidFill>
                <a:latin typeface="Google Sans"/>
                <a:ea typeface="Google Sans"/>
                <a:cs typeface="Google Sans"/>
                <a:sym typeface="Google Sans"/>
              </a:rPr>
            </a:br>
            <a:r>
              <a:rPr b="0" i="0" lang="en-GB" sz="1000" u="none" cap="none" strike="noStrike">
                <a:solidFill>
                  <a:srgbClr val="000000"/>
                </a:solidFill>
                <a:latin typeface="Google Sans"/>
                <a:ea typeface="Google Sans"/>
                <a:cs typeface="Google Sans"/>
                <a:sym typeface="Google Sans"/>
              </a:rPr>
              <a:t>(Why did you choose your specific AI stack and system design, and how does it support scalability and real-world deployment?)</a:t>
            </a:r>
            <a:endParaRPr b="1" i="0" sz="1800" u="none" cap="none" strike="noStrike">
              <a:solidFill>
                <a:srgbClr val="000000"/>
              </a:solidFill>
              <a:latin typeface="Google Sans"/>
              <a:ea typeface="Google Sans"/>
              <a:cs typeface="Google Sans"/>
              <a:sym typeface="Google Sans"/>
            </a:endParaRPr>
          </a:p>
        </p:txBody>
      </p:sp>
      <p:sp>
        <p:nvSpPr>
          <p:cNvPr id="112" name="Google Shape;112;p21"/>
          <p:cNvSpPr txBox="1"/>
          <p:nvPr/>
        </p:nvSpPr>
        <p:spPr>
          <a:xfrm>
            <a:off x="463125" y="15746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sz="1400" b="0">
                <a:solidFill>
                  <a:srgbClr val="000000"/>
                </a:solidFill>
                <a:latin typeface="Google Sans"/>
              </a:rPr>
              <a:t>NVIDIA (via OpenRouter, free tier): Nemotron 3 Ultra (planning), Llama-Nemotron-Embed-VL-1B-V2 (embedding), Llama-Nemotron-Rerank-VL-1B-V2 (RAG reranking), Nemotron 3.5 Content-Safety (guardrails, pre + post-check)</a:t>
            </a:r>
            <a:endParaRPr b="0" i="0" sz="1400" u="none" cap="none" strike="noStrike">
              <a:solidFill>
                <a:srgbClr val="000000"/>
              </a:solidFill>
              <a:latin typeface="Google Sans"/>
              <a:ea typeface="Google Sans"/>
              <a:cs typeface="Google Sans"/>
              <a:sym typeface="Google Sans"/>
            </a:endParaRPr>
          </a:p>
          <a:p>
            <a:r>
              <a:rPr sz="1400" b="0">
                <a:solidFill>
                  <a:srgbClr val="000000"/>
                </a:solidFill>
                <a:latin typeface="Google Sans"/>
              </a:rPr>
              <a:t/>
            </a:r>
          </a:p>
          <a:p>
            <a:r>
              <a:rPr sz="1400" b="0">
                <a:solidFill>
                  <a:srgbClr val="000000"/>
                </a:solidFill>
                <a:latin typeface="Google Sans"/>
              </a:rPr>
              <a:t>Google: Gemini 2.0 Flash (v1 pipeline + automatic fallback when Nemotron/OpenRouter is unavailable)</a:t>
            </a:r>
          </a:p>
          <a:p>
            <a:r>
              <a:rPr sz="1400" b="0">
                <a:solidFill>
                  <a:srgbClr val="000000"/>
                </a:solidFill>
                <a:latin typeface="Google Sans"/>
              </a:rPr>
              <a:t/>
            </a:r>
          </a:p>
          <a:p>
            <a:r>
              <a:rPr sz="1400" b="0">
                <a:solidFill>
                  <a:srgbClr val="000000"/>
                </a:solidFill>
                <a:latin typeface="Google Sans"/>
              </a:rPr>
              <a:t>Knowledge: Neo4j Aura (entity/relation graph), Qdrant Cloud (vector search)</a:t>
            </a:r>
          </a:p>
          <a:p>
            <a:r>
              <a:rPr sz="1400" b="0">
                <a:solidFill>
                  <a:srgbClr val="000000"/>
                </a:solidFill>
                <a:latin typeface="Google Sans"/>
              </a:rPr>
              <a:t/>
            </a:r>
          </a:p>
          <a:p>
            <a:r>
              <a:rPr sz="1400" b="0">
                <a:solidFill>
                  <a:srgbClr val="000000"/>
                </a:solidFill>
                <a:latin typeface="Google Sans"/>
              </a:rPr>
              <a:t>Platform: FastAPI + PostgreSQL (Neon.tech), React + TypeScript, Render (backend), Vercel (frontend)</a:t>
            </a:r>
          </a:p>
          <a:p>
            <a:r>
              <a:rPr sz="1400" b="0">
                <a:solidFill>
                  <a:srgbClr val="000000"/>
                </a:solidFill>
                <a:latin typeface="Google Sans"/>
              </a:rPr>
              <a:t/>
            </a:r>
          </a:p>
          <a:p>
            <a:r>
              <a:rPr sz="1400" b="0">
                <a:solidFill>
                  <a:srgbClr val="000000"/>
                </a:solidFill>
                <a:latin typeface="Google Sans"/>
              </a:rPr>
              <a:t>Why this stack: every model call is routed through one AI Gateway (src/ai/gateway.py) with a per-role fallback list — changing providers (NVIDIA NIM, Vertex AI, Ollama) means editing one file, not every agent. 100% free-tier components keep the whole stack deployable with zero GPU cost, while the gateway abstraction means production scale-up is a config change, not a rewrite.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2"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118" name="Google Shape;118;p22"/>
          <p:cNvSpPr txBox="1"/>
          <p:nvPr/>
        </p:nvSpPr>
        <p:spPr>
          <a:xfrm>
            <a:off x="679525" y="1014075"/>
            <a:ext cx="7840800" cy="318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119" name="Google Shape;119;p22"/>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Snapshots of the prototype</a:t>
            </a:r>
            <a:endParaRPr b="1" i="0" sz="1800" u="none" cap="none" strike="noStrike">
              <a:solidFill>
                <a:srgbClr val="000000"/>
              </a:solidFill>
              <a:latin typeface="Google Sans"/>
              <a:ea typeface="Google Sans"/>
              <a:cs typeface="Google Sans"/>
              <a:sym typeface="Google Sans"/>
            </a:endParaRPr>
          </a:p>
        </p:txBody>
      </p:sp>
      <p:sp>
        <p:nvSpPr>
          <p:cNvPr id="120" name="Google Shape;120;p22"/>
          <p:cNvSpPr txBox="1"/>
          <p:nvPr/>
        </p:nvSpPr>
        <p:spPr>
          <a:xfrm>
            <a:off x="463125" y="11241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endParaRPr b="0" i="0" sz="1400" u="none" cap="none" strike="noStrike">
              <a:solidFill>
                <a:srgbClr val="000000"/>
              </a:solidFill>
              <a:latin typeface="Google Sans"/>
              <a:ea typeface="Google Sans"/>
              <a:cs typeface="Google Sans"/>
              <a:sym typeface="Google Sans"/>
            </a:endParaRPr>
          </a:p>
        </p:txBody>
      </p:sp>
      <p:pic>
        <p:nvPicPr>
          <p:cNvPr id="121" name="Picture 120" descr="risk-radar.png"/>
          <p:cNvPicPr>
            <a:picLocks noChangeAspect="1"/>
          </p:cNvPicPr>
          <p:nvPr/>
        </p:nvPicPr>
        <p:blipFill>
          <a:blip r:embed="rId4"/>
          <a:stretch>
            <a:fillRect/>
          </a:stretch>
        </p:blipFill>
        <p:spPr>
          <a:xfrm>
            <a:off x="463125" y="1400000"/>
            <a:ext cx="4089480" cy="2371400"/>
          </a:xfrm>
          <a:prstGeom prst="rect">
            <a:avLst/>
          </a:prstGeom>
        </p:spPr>
      </p:pic>
      <p:sp>
        <p:nvSpPr>
          <p:cNvPr id="122" name="TextBox 121"/>
          <p:cNvSpPr txBox="1"/>
          <p:nvPr/>
        </p:nvSpPr>
        <p:spPr>
          <a:xfrm>
            <a:off x="463125" y="3771400"/>
            <a:ext cx="4089480" cy="228600"/>
          </a:xfrm>
          <a:prstGeom prst="rect">
            <a:avLst/>
          </a:prstGeom>
          <a:noFill/>
        </p:spPr>
        <p:txBody>
          <a:bodyPr wrap="none">
            <a:spAutoFit/>
          </a:bodyPr>
          <a:lstStyle/>
          <a:p>
            <a:pPr algn="ctr"/>
            <a:r>
              <a:rPr sz="1100">
                <a:latin typeface="Google Sans"/>
              </a:rPr>
              <a:t>Risk Radar</a:t>
            </a:r>
          </a:p>
        </p:txBody>
      </p:sp>
      <p:pic>
        <p:nvPicPr>
          <p:cNvPr id="123" name="Picture 122" descr="simulator.png"/>
          <p:cNvPicPr>
            <a:picLocks noChangeAspect="1"/>
          </p:cNvPicPr>
          <p:nvPr/>
        </p:nvPicPr>
        <p:blipFill>
          <a:blip r:embed="rId5"/>
          <a:stretch>
            <a:fillRect/>
          </a:stretch>
        </p:blipFill>
        <p:spPr>
          <a:xfrm>
            <a:off x="4644045" y="1400000"/>
            <a:ext cx="4089480" cy="2371400"/>
          </a:xfrm>
          <a:prstGeom prst="rect">
            <a:avLst/>
          </a:prstGeom>
        </p:spPr>
      </p:pic>
      <p:sp>
        <p:nvSpPr>
          <p:cNvPr id="124" name="TextBox 123"/>
          <p:cNvSpPr txBox="1"/>
          <p:nvPr/>
        </p:nvSpPr>
        <p:spPr>
          <a:xfrm>
            <a:off x="4644045" y="3771400"/>
            <a:ext cx="4089480" cy="228600"/>
          </a:xfrm>
          <a:prstGeom prst="rect">
            <a:avLst/>
          </a:prstGeom>
          <a:noFill/>
        </p:spPr>
        <p:txBody>
          <a:bodyPr wrap="none">
            <a:spAutoFit/>
          </a:bodyPr>
          <a:lstStyle/>
          <a:p>
            <a:pPr algn="ctr"/>
            <a:r>
              <a:rPr sz="1100">
                <a:latin typeface="Google Sans"/>
              </a:rPr>
              <a:t>What-If Simulator</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3" title="Submission deck tq.png"/>
          <p:cNvPicPr preferRelativeResize="0"/>
          <p:nvPr/>
        </p:nvPicPr>
        <p:blipFill rotWithShape="1">
          <a:blip r:embed="rId3">
            <a:alphaModFix/>
          </a:blip>
          <a:srcRect b="0" l="0" r="0" t="0"/>
          <a:stretch/>
        </p:blipFill>
        <p:spPr>
          <a:xfrm>
            <a:off x="0" y="0"/>
            <a:ext cx="9143990" cy="5143500"/>
          </a:xfrm>
          <a:prstGeom prst="rect">
            <a:avLst/>
          </a:prstGeom>
          <a:noFill/>
          <a:ln>
            <a:noFill/>
          </a:ln>
        </p:spPr>
      </p:pic>
      <p:sp>
        <p:nvSpPr>
          <p:cNvPr id="126" name="TextBox 125"/>
          <p:cNvSpPr txBox="1"/>
          <p:nvPr/>
        </p:nvSpPr>
        <p:spPr>
          <a:xfrm>
            <a:off x="463125" y="2000000"/>
            <a:ext cx="8270400" cy="1200000"/>
          </a:xfrm>
          <a:prstGeom prst="rect">
            <a:avLst/>
          </a:prstGeom>
          <a:noFill/>
        </p:spPr>
        <p:txBody>
          <a:bodyPr wrap="none">
            <a:spAutoFit/>
          </a:bodyPr>
          <a:lstStyle/>
          <a:p>
            <a:r>
              <a:rPr sz="4000" b="1">
                <a:latin typeface="Google Sans"/>
              </a:rPr>
              <a:t>CityOS</a:t>
            </a:r>
          </a:p>
          <a:p>
            <a:r>
              <a:rPr sz="2000">
                <a:latin typeface="Google Sans"/>
              </a:rPr>
              <a:t>An Autonomous Multi-Agent Operating System for Smart Cities</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